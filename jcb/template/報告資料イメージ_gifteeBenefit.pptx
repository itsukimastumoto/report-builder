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6313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5AF63D-97B4-B626-F0A3-5051640B4150}" name="Itsuki Matsumoto" initials="IM" userId="S::itsuki.matsumoto@giftee.co::bf3a777e-6327-4bd8-8d07-2f0eb6439b6d" providerId="AD"/>
  <p188:author id="{3A0D8C66-FB7A-1C28-8FF2-B5A286A2E692}" name="Miharu Kitamura" initials="MK" userId="S::m-kitamura@giftee.co::3ed4463c-79bf-4c1f-8fa8-8a11ddb474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34"/>
    <p:restoredTop sz="96521"/>
  </p:normalViewPr>
  <p:slideViewPr>
    <p:cSldViewPr snapToGrid="0">
      <p:cViewPr>
        <p:scale>
          <a:sx n="86" d="100"/>
          <a:sy n="86" d="100"/>
        </p:scale>
        <p:origin x="424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703" y="1160463"/>
            <a:ext cx="9849106" cy="2268537"/>
          </a:xfrm>
        </p:spPr>
        <p:txBody>
          <a:bodyPr anchor="b">
            <a:normAutofit/>
          </a:bodyPr>
          <a:lstStyle>
            <a:lvl1pPr algn="ctr">
              <a:lnSpc>
                <a:spcPct val="135000"/>
              </a:lnSpc>
              <a:defRPr sz="46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FE48A5-5059-DD4F-BB1E-4075D82D24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0150" y="3810000"/>
            <a:ext cx="9828213" cy="1512888"/>
          </a:xfrm>
        </p:spPr>
        <p:txBody>
          <a:bodyPr anchor="ctr"/>
          <a:lstStyle>
            <a:lvl1pPr algn="ctr">
              <a:defRPr sz="2000">
                <a:solidFill>
                  <a:schemeClr val="tx2"/>
                </a:solidFill>
              </a:defRPr>
            </a:lvl1pPr>
            <a:lvl2pPr algn="ctr">
              <a:defRPr sz="1600">
                <a:solidFill>
                  <a:schemeClr val="tx2"/>
                </a:solidFill>
              </a:defRPr>
            </a:lvl2pPr>
            <a:lvl3pPr algn="ctr">
              <a:lnSpc>
                <a:spcPct val="110000"/>
              </a:lnSpc>
              <a:spcBef>
                <a:spcPts val="1000"/>
              </a:spcBef>
              <a:defRPr sz="1400">
                <a:solidFill>
                  <a:schemeClr val="accent1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035A63C-4BFE-E945-8676-476DEAE158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3213" y="4870461"/>
            <a:ext cx="2377166" cy="1344072"/>
          </a:xfrm>
          <a:prstGeom prst="rect">
            <a:avLst/>
          </a:prstGeom>
        </p:spPr>
      </p:pic>
      <p:sp>
        <p:nvSpPr>
          <p:cNvPr id="12" name="テキスト プレースホルダー 23">
            <a:extLst>
              <a:ext uri="{FF2B5EF4-FFF2-40B4-BE49-F238E27FC236}">
                <a16:creationId xmlns:a16="http://schemas.microsoft.com/office/drawing/2014/main" id="{2FF9FEE2-4C82-C34E-9093-8A2254813F23}"/>
              </a:ext>
            </a:extLst>
          </p:cNvPr>
          <p:cNvSpPr txBox="1">
            <a:spLocks/>
          </p:cNvSpPr>
          <p:nvPr userDrawn="1"/>
        </p:nvSpPr>
        <p:spPr>
          <a:xfrm>
            <a:off x="2693193" y="6219622"/>
            <a:ext cx="6805614" cy="269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kumimoji="1" sz="24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1pPr>
            <a:lvl2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2pPr>
            <a:lvl3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accent1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3pPr>
            <a:lvl4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8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6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 altLang="ja-JP" sz="750" dirty="0"/>
              <a:t>©2020 giftee Inc. all rights reserved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A8BDBD8-6C7A-D343-87A1-C6A111B43A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2000" y="105942"/>
            <a:ext cx="1080000" cy="113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23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244" y="1160462"/>
            <a:ext cx="6840538" cy="2590027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FE48A5-5059-DD4F-BB1E-4075D82D24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2435" y="4184650"/>
            <a:ext cx="6805176" cy="1512888"/>
          </a:xfrm>
        </p:spPr>
        <p:txBody>
          <a:bodyPr anchor="t"/>
          <a:lstStyle>
            <a:lvl1pPr algn="l">
              <a:defRPr sz="2000">
                <a:solidFill>
                  <a:schemeClr val="tx2"/>
                </a:solidFill>
              </a:defRPr>
            </a:lvl1pPr>
            <a:lvl2pPr algn="l">
              <a:defRPr sz="1600">
                <a:solidFill>
                  <a:schemeClr val="tx2"/>
                </a:solidFill>
              </a:defRPr>
            </a:lvl2pPr>
            <a:lvl3pPr algn="l">
              <a:lnSpc>
                <a:spcPct val="110000"/>
              </a:lnSpc>
              <a:spcBef>
                <a:spcPts val="1000"/>
              </a:spcBef>
              <a:defRPr sz="1400">
                <a:solidFill>
                  <a:schemeClr val="accent1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035A63C-4BFE-E945-8676-476DEAE158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12" y="2597150"/>
            <a:ext cx="2953702" cy="1670050"/>
          </a:xfrm>
          <a:prstGeom prst="rect">
            <a:avLst/>
          </a:prstGeom>
        </p:spPr>
      </p:pic>
      <p:sp>
        <p:nvSpPr>
          <p:cNvPr id="12" name="テキスト プレースホルダー 23">
            <a:extLst>
              <a:ext uri="{FF2B5EF4-FFF2-40B4-BE49-F238E27FC236}">
                <a16:creationId xmlns:a16="http://schemas.microsoft.com/office/drawing/2014/main" id="{2FF9FEE2-4C82-C34E-9093-8A2254813F23}"/>
              </a:ext>
            </a:extLst>
          </p:cNvPr>
          <p:cNvSpPr txBox="1">
            <a:spLocks/>
          </p:cNvSpPr>
          <p:nvPr userDrawn="1"/>
        </p:nvSpPr>
        <p:spPr>
          <a:xfrm>
            <a:off x="5106649" y="6199021"/>
            <a:ext cx="1978701" cy="269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kumimoji="1" sz="24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1pPr>
            <a:lvl2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2pPr>
            <a:lvl3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accent1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3pPr>
            <a:lvl4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8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6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 algn="l"/>
            <a:r>
              <a:rPr lang="en-US" altLang="ja-JP" sz="750" dirty="0"/>
              <a:t>©2024 giftee Inc. all rights reserved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22D19C0B-3A98-394A-871B-5C23E2992A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2000" y="105942"/>
            <a:ext cx="1080000" cy="113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35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686924" cy="2268537"/>
          </a:xfrm>
        </p:spPr>
        <p:txBody>
          <a:bodyPr anchor="b">
            <a:normAutofit/>
          </a:bodyPr>
          <a:lstStyle>
            <a:lvl1pPr algn="ctr">
              <a:lnSpc>
                <a:spcPct val="135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FE48A5-5059-DD4F-BB1E-4075D82D24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0150" y="4184650"/>
            <a:ext cx="9828213" cy="2268538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lnSpc>
                <a:spcPct val="110000"/>
              </a:lnSpc>
              <a:spcBef>
                <a:spcPts val="1000"/>
              </a:spcBef>
              <a:defRPr sz="2000">
                <a:solidFill>
                  <a:schemeClr val="accent1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A4CFD222-B804-1D4E-8985-477C342A5B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7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5" y="782637"/>
            <a:ext cx="2483374" cy="52927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685749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kumimoji="1" lang="ja-JP" altLang="en-US" sz="2800" kern="800" spc="113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39B654-34EB-3A47-A979-BBCB31B815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6417" y="782637"/>
            <a:ext cx="5327650" cy="5292725"/>
          </a:xfrm>
        </p:spPr>
        <p:txBody>
          <a:bodyPr lIns="0" tIns="0" rIns="0" bIns="0" anchor="ctr">
            <a:noAutofit/>
          </a:bodyPr>
          <a:lstStyle>
            <a:lvl1pPr marL="457200" marR="0" indent="-457200" algn="l" defTabSz="685749" rtl="0" eaLnBrk="1" fontAlgn="auto" latinLnBrk="0" hangingPunct="1">
              <a:lnSpc>
                <a:spcPct val="120000"/>
              </a:lnSpc>
              <a:spcBef>
                <a:spcPts val="900"/>
              </a:spcBef>
              <a:spcAft>
                <a:spcPts val="28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2800" kern="600" spc="38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1pPr>
            <a:lvl2pPr marL="342900" marR="0" indent="-342900" algn="l" defTabSz="685749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2400" kern="600" spc="38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2pPr>
            <a:lvl3pPr marL="285750" marR="0" indent="-285750" algn="l" defTabSz="685749" rtl="0" eaLnBrk="1" fontAlgn="auto" latinLnBrk="0" hangingPunct="1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1800" kern="600" spc="38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3pPr>
            <a:lvl4pPr marL="171450" marR="0" indent="-171450" algn="l" defTabSz="685749" rtl="0" eaLnBrk="1" fontAlgn="auto" latinLnBrk="0" hangingPunct="1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1200" kern="500" spc="70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 marL="171450" marR="0" indent="-171450" algn="l" defTabSz="685749" rtl="0" eaLnBrk="1" fontAlgn="auto" latinLnBrk="0" hangingPunct="1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1000" kern="500" spc="7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</a:lstStyle>
          <a:p>
            <a:pPr marL="457200" lvl="0" indent="-457200" algn="l" defTabSz="685749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kumimoji="1" lang="ja-JP" altLang="en-US"/>
              <a:t>マスター テキストの書式設定</a:t>
            </a:r>
          </a:p>
          <a:p>
            <a:pPr marL="342900" lvl="1" indent="-342900" algn="l" defTabSz="685749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800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marL="285750" lvl="2" indent="-285750" algn="l" defTabSz="685749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3600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171450" lvl="3" indent="-171450" algn="l" defTabSz="685749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563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171450" lvl="4" indent="-171450" algn="l" defTabSz="685749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506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3D9AF47-FB6C-F24F-869A-664E8AFEFE1B}"/>
              </a:ext>
            </a:extLst>
          </p:cNvPr>
          <p:cNvCxnSpPr>
            <a:cxnSpLocks/>
          </p:cNvCxnSpPr>
          <p:nvPr userDrawn="1"/>
        </p:nvCxnSpPr>
        <p:spPr>
          <a:xfrm>
            <a:off x="3935677" y="1538287"/>
            <a:ext cx="0" cy="37814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77C11478-F784-EC4C-B4C8-B5BA35081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3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828212" cy="4537075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spcAft>
                <a:spcPts val="1800"/>
              </a:spcAft>
              <a:defRPr sz="4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219BF4A1-E51B-064D-95A8-DDF033694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5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角丸四角形 7">
            <a:extLst>
              <a:ext uri="{FF2B5EF4-FFF2-40B4-BE49-F238E27FC236}">
                <a16:creationId xmlns:a16="http://schemas.microsoft.com/office/drawing/2014/main" id="{D51490EA-77C8-6E4B-A02C-B52F3BA80BCF}"/>
              </a:ext>
            </a:extLst>
          </p:cNvPr>
          <p:cNvSpPr/>
          <p:nvPr userDrawn="1"/>
        </p:nvSpPr>
        <p:spPr>
          <a:xfrm>
            <a:off x="179400" y="180000"/>
            <a:ext cx="11833200" cy="6498000"/>
          </a:xfrm>
          <a:prstGeom prst="roundRect">
            <a:avLst>
              <a:gd name="adj" fmla="val 390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226F8384-1C52-8149-B73F-23B377A61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828212" cy="4537075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spcAft>
                <a:spcPts val="1800"/>
              </a:spcAft>
              <a:defRPr sz="4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0305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 5">
            <a:extLst>
              <a:ext uri="{FF2B5EF4-FFF2-40B4-BE49-F238E27FC236}">
                <a16:creationId xmlns:a16="http://schemas.microsoft.com/office/drawing/2014/main" id="{B85CBF93-175A-144C-9635-D48274E0DFD1}"/>
              </a:ext>
            </a:extLst>
          </p:cNvPr>
          <p:cNvSpPr/>
          <p:nvPr userDrawn="1"/>
        </p:nvSpPr>
        <p:spPr>
          <a:xfrm>
            <a:off x="179400" y="180000"/>
            <a:ext cx="11833200" cy="6498000"/>
          </a:xfrm>
          <a:prstGeom prst="roundRect">
            <a:avLst>
              <a:gd name="adj" fmla="val 390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87911CE1-97BA-454C-96C7-D3C2B2CBC0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686924" cy="4537075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spcAft>
                <a:spcPts val="1800"/>
              </a:spcAft>
              <a:defRPr sz="4600" b="1" i="0">
                <a:solidFill>
                  <a:srgbClr val="FFFFFF"/>
                </a:solidFill>
                <a:latin typeface="Hiragino Kaku Gothic Pro W6" panose="020B0300000000000000" pitchFamily="34" charset="-128"/>
                <a:ea typeface="Hiragino Kaku Gothic Pro W6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68601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404813"/>
            <a:ext cx="9072564" cy="89363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39B654-34EB-3A47-A979-BBCB31B815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0150" y="1916114"/>
            <a:ext cx="4895849" cy="3781425"/>
          </a:xfrm>
        </p:spPr>
        <p:txBody>
          <a:bodyPr lIns="0" tIns="0" rIns="0" bIns="0">
            <a:noAutofit/>
          </a:bodyPr>
          <a:lstStyle>
            <a:lvl1pPr algn="just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  <a:defRPr sz="1600"/>
            </a:lvl1pPr>
            <a:lvl2pPr algn="just">
              <a:lnSpc>
                <a:spcPct val="120000"/>
              </a:lnSpc>
              <a:spcBef>
                <a:spcPts val="0"/>
              </a:spcBef>
              <a:spcAft>
                <a:spcPts val="1050"/>
              </a:spcAft>
              <a:defRPr sz="1400"/>
            </a:lvl2pPr>
            <a:lvl3pPr algn="just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2"/>
                </a:solidFill>
              </a:defRPr>
            </a:lvl3pPr>
            <a:lvl4pPr algn="just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defRPr sz="1000" baseline="0"/>
            </a:lvl4pPr>
            <a:lvl5pPr algn="just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defRPr sz="900" baseline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0D9AA9EB-7F38-7F4C-B782-9280A25156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70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404813"/>
            <a:ext cx="9072563" cy="89363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kumimoji="1" lang="ja-JP" altLang="en-US" sz="2000" kern="800" spc="1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3E1690ED-570E-A440-9DD5-8605973146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00149" y="1916113"/>
            <a:ext cx="9828213" cy="4537074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defRPr/>
            </a:lvl2pPr>
            <a:lvl3pPr>
              <a:spcBef>
                <a:spcPts val="0"/>
              </a:spcBef>
              <a:spcAft>
                <a:spcPts val="900"/>
              </a:spcAft>
              <a:defRPr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defRPr kumimoji="1" lang="ja-JP" altLang="en-US" sz="10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>
              <a:defRPr kumimoji="1" lang="ja-JP" altLang="en-US" sz="9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0" lvl="3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0" lvl="4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245270-9E08-814B-8922-C8ABF36DA8C1}"/>
              </a:ext>
            </a:extLst>
          </p:cNvPr>
          <p:cNvSpPr txBox="1"/>
          <p:nvPr userDrawn="1"/>
        </p:nvSpPr>
        <p:spPr>
          <a:xfrm>
            <a:off x="15814623" y="-2758190"/>
            <a:ext cx="18473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kumimoji="1" lang="ja-JP" altLang="en-US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35389F55-F042-0E40-8EA8-D931CBEB82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0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04813"/>
            <a:ext cx="10548939" cy="1512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ja-JP" altLang="en-US"/>
              <a:t>マスター タイトルの</a:t>
            </a:r>
            <a:br>
              <a:rPr kumimoji="1" lang="en-US" altLang="ja-JP" dirty="0"/>
            </a:br>
            <a:r>
              <a:rPr kumimoji="1" lang="ja-JP" altLang="en-US"/>
              <a:t>書式設定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3E1690ED-570E-A440-9DD5-8605973146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2294731"/>
            <a:ext cx="10548938" cy="377983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defRPr/>
            </a:lvl2pPr>
            <a:lvl3pPr>
              <a:spcBef>
                <a:spcPts val="0"/>
              </a:spcBef>
              <a:spcAft>
                <a:spcPts val="900"/>
              </a:spcAft>
              <a:defRPr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defRPr kumimoji="1" lang="ja-JP" altLang="en-US" sz="1000" kern="6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>
              <a:defRPr kumimoji="1" lang="ja-JP" altLang="en-US" sz="900" kern="6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0" lvl="3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0" lvl="4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245270-9E08-814B-8922-C8ABF36DA8C1}"/>
              </a:ext>
            </a:extLst>
          </p:cNvPr>
          <p:cNvSpPr txBox="1"/>
          <p:nvPr userDrawn="1"/>
        </p:nvSpPr>
        <p:spPr>
          <a:xfrm>
            <a:off x="15814623" y="-2758190"/>
            <a:ext cx="18473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kumimoji="1" lang="ja-JP" altLang="en-US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7DBD1B42-87F0-2A49-BB49-A96CC79423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1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7185783F-4B9F-5247-9030-6DCE7F55D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06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8" y="236145"/>
            <a:ext cx="10765750" cy="6278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39B654-34EB-3A47-A979-BBCB31B815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668" y="1100141"/>
            <a:ext cx="10765750" cy="5208587"/>
          </a:xfrm>
        </p:spPr>
        <p:txBody>
          <a:bodyPr lIns="0" tIns="0" rIns="0" bIns="0">
            <a:noAutofit/>
          </a:bodyPr>
          <a:lstStyle>
            <a:lvl1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  <a:defRPr sz="1600"/>
            </a:lvl1pPr>
            <a:lvl2pPr algn="l">
              <a:lnSpc>
                <a:spcPct val="120000"/>
              </a:lnSpc>
              <a:spcBef>
                <a:spcPts val="0"/>
              </a:spcBef>
              <a:spcAft>
                <a:spcPts val="1051"/>
              </a:spcAft>
              <a:defRPr sz="1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2"/>
                </a:solidFill>
              </a:defRPr>
            </a:lvl3pPr>
            <a:lvl4pPr algn="l">
              <a:lnSpc>
                <a:spcPct val="150000"/>
              </a:lnSpc>
              <a:spcBef>
                <a:spcPts val="0"/>
              </a:spcBef>
              <a:spcAft>
                <a:spcPts val="751"/>
              </a:spcAft>
              <a:defRPr sz="1000" kern="500" spc="93" baseline="0"/>
            </a:lvl4pPr>
            <a:lvl5pPr algn="l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defRPr sz="900" kern="500" spc="93" baseline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FFA3E8A-4E85-BA45-9F68-86E9DBAF3F41}"/>
              </a:ext>
            </a:extLst>
          </p:cNvPr>
          <p:cNvCxnSpPr>
            <a:cxnSpLocks/>
          </p:cNvCxnSpPr>
          <p:nvPr userDrawn="1"/>
        </p:nvCxnSpPr>
        <p:spPr>
          <a:xfrm>
            <a:off x="719668" y="864000"/>
            <a:ext cx="107657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433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>
            <a:extLst>
              <a:ext uri="{FF2B5EF4-FFF2-40B4-BE49-F238E27FC236}">
                <a16:creationId xmlns:a16="http://schemas.microsoft.com/office/drawing/2014/main" id="{05BE573B-7F21-204B-A08C-71A64EDC64EE}"/>
              </a:ext>
            </a:extLst>
          </p:cNvPr>
          <p:cNvSpPr/>
          <p:nvPr userDrawn="1"/>
        </p:nvSpPr>
        <p:spPr>
          <a:xfrm>
            <a:off x="179400" y="180000"/>
            <a:ext cx="11833200" cy="649800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927704-C672-AD49-9D39-00F6BC650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404813"/>
            <a:ext cx="10548939" cy="15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</a:t>
            </a:r>
            <a:br>
              <a:rPr kumimoji="1" lang="en-US" altLang="ja-JP" dirty="0"/>
            </a:br>
            <a:r>
              <a:rPr kumimoji="1" lang="ja-JP" altLang="en-US"/>
              <a:t>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ECFEED-0485-F74D-B735-524C5C8DA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2673350"/>
            <a:ext cx="10548940" cy="3442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Tx/>
              <a:buNone/>
            </a:pPr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marL="0" lvl="1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marL="0" lvl="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0" lvl="3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0" lvl="4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98C5FB-D015-4E40-8919-A480B872C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8540" y="6214532"/>
            <a:ext cx="536765" cy="238656"/>
          </a:xfrm>
          <a:prstGeom prst="rect">
            <a:avLst/>
          </a:prstGeom>
        </p:spPr>
        <p:txBody>
          <a:bodyPr vert="horz" lIns="0" tIns="0" rIns="0" bIns="0" rtlCol="0" anchor="b" anchorCtr="1"/>
          <a:lstStyle>
            <a:lvl1pPr algn="r">
              <a:defRPr kumimoji="1" lang="ja-JP" altLang="en-US" sz="1200" b="0" i="0" kern="400" spc="100" baseline="0" smtClean="0">
                <a:solidFill>
                  <a:schemeClr val="tx2"/>
                </a:solidFill>
                <a:latin typeface="Helvetica Neue Light" panose="02000403000000020004" pitchFamily="2" charset="0"/>
                <a:ea typeface="ヒラギノ角ゴ Pro W3" panose="020B0300000000000000" pitchFamily="34" charset="-128"/>
                <a:cs typeface="Helvetica Neue Medium" panose="02000503000000020004" pitchFamily="2" charset="0"/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82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kumimoji="1" sz="3200" kern="800" spc="1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Tx/>
        <a:buNone/>
        <a:defRPr kumimoji="1" lang="en-US" altLang="ja-JP" sz="2400" kern="600" spc="50" baseline="0" dirty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kumimoji="1" lang="ja-JP" altLang="en-US" sz="20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2pPr>
      <a:lvl3pPr marL="0" indent="0" algn="l" defTabSz="914400" rtl="0" eaLnBrk="1" latinLnBrk="0" hangingPunct="1">
        <a:lnSpc>
          <a:spcPct val="120000"/>
        </a:lnSpc>
        <a:spcBef>
          <a:spcPts val="600"/>
        </a:spcBef>
        <a:buFontTx/>
        <a:buNone/>
        <a:defRPr kumimoji="1" lang="ja-JP" altLang="en-US" sz="12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3pPr>
      <a:lvl4pPr marL="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kumimoji="1" lang="ja-JP" altLang="en-US" sz="10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kumimoji="1" lang="ja-JP" altLang="en-US" sz="9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591">
          <p15:clr>
            <a:srgbClr val="F26B43"/>
          </p15:clr>
        </p15:guide>
        <p15:guide id="3" pos="4089">
          <p15:clr>
            <a:srgbClr val="F26B43"/>
          </p15:clr>
        </p15:guide>
        <p15:guide id="4" pos="3840">
          <p15:clr>
            <a:srgbClr val="F26B43"/>
          </p15:clr>
        </p15:guide>
        <p15:guide id="6" pos="5518">
          <p15:clr>
            <a:srgbClr val="F26B43"/>
          </p15:clr>
        </p15:guide>
        <p15:guide id="7" pos="5995">
          <p15:clr>
            <a:srgbClr val="F26B43"/>
          </p15:clr>
        </p15:guide>
        <p15:guide id="8" pos="6471">
          <p15:clr>
            <a:srgbClr val="F26B43"/>
          </p15:clr>
        </p15:guide>
        <p15:guide id="9" pos="6947">
          <p15:clr>
            <a:srgbClr val="F26B43"/>
          </p15:clr>
        </p15:guide>
        <p15:guide id="10" pos="7401">
          <p15:clr>
            <a:srgbClr val="F26B43"/>
          </p15:clr>
        </p15:guide>
        <p15:guide id="11" pos="3114">
          <p15:clr>
            <a:srgbClr val="F26B43"/>
          </p15:clr>
        </p15:guide>
        <p15:guide id="12" pos="2638">
          <p15:clr>
            <a:srgbClr val="F26B43"/>
          </p15:clr>
        </p15:guide>
        <p15:guide id="13" pos="2162">
          <p15:clr>
            <a:srgbClr val="F26B43"/>
          </p15:clr>
        </p15:guide>
        <p15:guide id="14" pos="1708">
          <p15:clr>
            <a:srgbClr val="F26B43"/>
          </p15:clr>
        </p15:guide>
        <p15:guide id="15" pos="1232">
          <p15:clr>
            <a:srgbClr val="F26B43"/>
          </p15:clr>
        </p15:guide>
        <p15:guide id="16" pos="756">
          <p15:clr>
            <a:srgbClr val="F26B43"/>
          </p15:clr>
        </p15:guide>
        <p15:guide id="17" orient="horz" pos="2636">
          <p15:clr>
            <a:srgbClr val="F26B43"/>
          </p15:clr>
        </p15:guide>
        <p15:guide id="18" orient="horz" pos="3113">
          <p15:clr>
            <a:srgbClr val="F26B43"/>
          </p15:clr>
        </p15:guide>
        <p15:guide id="19" orient="horz" pos="3589">
          <p15:clr>
            <a:srgbClr val="F26B43"/>
          </p15:clr>
        </p15:guide>
        <p15:guide id="20" orient="horz" pos="4065">
          <p15:clr>
            <a:srgbClr val="F26B43"/>
          </p15:clr>
        </p15:guide>
        <p15:guide id="21" orient="horz" pos="1684">
          <p15:clr>
            <a:srgbClr val="F26B43"/>
          </p15:clr>
        </p15:guide>
        <p15:guide id="22" orient="horz" pos="1207">
          <p15:clr>
            <a:srgbClr val="F26B43"/>
          </p15:clr>
        </p15:guide>
        <p15:guide id="23" orient="horz" pos="731">
          <p15:clr>
            <a:srgbClr val="F26B43"/>
          </p15:clr>
        </p15:guide>
        <p15:guide id="24" orient="horz" pos="255">
          <p15:clr>
            <a:srgbClr val="F26B43"/>
          </p15:clr>
        </p15:guide>
        <p15:guide id="25" pos="279">
          <p15:clr>
            <a:srgbClr val="F26B43"/>
          </p15:clr>
        </p15:guide>
        <p15:guide id="26" pos="4566">
          <p15:clr>
            <a:srgbClr val="F26B43"/>
          </p15:clr>
        </p15:guide>
        <p15:guide id="27" pos="50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BCECAF4-3B68-5EAB-AE8E-CF41F7A3C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0DDC9A8-1E12-6373-3617-6F9F7183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xxxxx</a:t>
            </a:r>
            <a:r>
              <a:rPr lang="ja-JP" altLang="en-US"/>
              <a:t>（イシュア名）ご報告資料</a:t>
            </a:r>
            <a:endParaRPr kumimoji="1" lang="ja-JP" altLang="en-US"/>
          </a:p>
        </p:txBody>
      </p:sp>
      <p:sp>
        <p:nvSpPr>
          <p:cNvPr id="11" name="タイトル 2">
            <a:extLst>
              <a:ext uri="{FF2B5EF4-FFF2-40B4-BE49-F238E27FC236}">
                <a16:creationId xmlns:a16="http://schemas.microsoft.com/office/drawing/2014/main" id="{A44F12DD-F38F-8B22-7358-C1DA8C31779F}"/>
              </a:ext>
            </a:extLst>
          </p:cNvPr>
          <p:cNvSpPr txBox="1">
            <a:spLocks/>
          </p:cNvSpPr>
          <p:nvPr/>
        </p:nvSpPr>
        <p:spPr>
          <a:xfrm>
            <a:off x="784087" y="2009248"/>
            <a:ext cx="5179210" cy="6278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kumimoji="1" sz="2400" kern="800" spc="1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lang="ja-JP" altLang="en-US" sz="1400">
                <a:latin typeface="Hiragino Sans W4" panose="020B0400000000000000" pitchFamily="34" charset="-128"/>
                <a:ea typeface="Hiragino Sans W4" panose="020B0400000000000000" pitchFamily="34" charset="-128"/>
              </a:rPr>
              <a:t>■</a:t>
            </a:r>
            <a:r>
              <a:rPr lang="en-US" altLang="ja-JP" sz="1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MAU(</a:t>
            </a:r>
            <a:r>
              <a:rPr lang="ja-JP" altLang="en-US" sz="1400">
                <a:latin typeface="Hiragino Sans W4" panose="020B0400000000000000" pitchFamily="34" charset="-128"/>
                <a:ea typeface="Hiragino Sans W4" panose="020B0400000000000000" pitchFamily="34" charset="-128"/>
              </a:rPr>
              <a:t>購入ユーザー数</a:t>
            </a:r>
            <a:r>
              <a:rPr lang="en-US" altLang="ja-JP" sz="1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)</a:t>
            </a:r>
            <a:r>
              <a:rPr lang="ja-JP" altLang="en-US" sz="1400">
                <a:latin typeface="Hiragino Sans W4" panose="020B0400000000000000" pitchFamily="34" charset="-128"/>
                <a:ea typeface="Hiragino Sans W4" panose="020B0400000000000000" pitchFamily="34" charset="-128"/>
              </a:rPr>
              <a:t>：</a:t>
            </a:r>
            <a:r>
              <a:rPr lang="en-US" altLang="ja-JP" sz="1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xx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4F969AE-4401-7601-FD55-6DBCCAA91886}"/>
              </a:ext>
            </a:extLst>
          </p:cNvPr>
          <p:cNvSpPr txBox="1"/>
          <p:nvPr/>
        </p:nvSpPr>
        <p:spPr>
          <a:xfrm>
            <a:off x="458394" y="940832"/>
            <a:ext cx="3547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期間：</a:t>
            </a:r>
            <a:r>
              <a:rPr lang="en-US" altLang="ja-JP" sz="16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2025/9/1〜2025/9/30</a:t>
            </a:r>
            <a:endParaRPr lang="ja-JP" altLang="en-US" sz="1600">
              <a:solidFill>
                <a:schemeClr val="tx2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6960930E-7CBE-0905-40F1-5607C21591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049"/>
          <a:stretch>
            <a:fillRect/>
          </a:stretch>
        </p:blipFill>
        <p:spPr>
          <a:xfrm>
            <a:off x="5963297" y="4560416"/>
            <a:ext cx="5670094" cy="1832634"/>
          </a:xfrm>
          <a:prstGeom prst="rect">
            <a:avLst/>
          </a:prstGeom>
        </p:spPr>
      </p:pic>
      <p:sp>
        <p:nvSpPr>
          <p:cNvPr id="17" name="タイトル 2">
            <a:extLst>
              <a:ext uri="{FF2B5EF4-FFF2-40B4-BE49-F238E27FC236}">
                <a16:creationId xmlns:a16="http://schemas.microsoft.com/office/drawing/2014/main" id="{978C9FD2-C813-942F-ABE4-49CC87BDB6C9}"/>
              </a:ext>
            </a:extLst>
          </p:cNvPr>
          <p:cNvSpPr txBox="1">
            <a:spLocks/>
          </p:cNvSpPr>
          <p:nvPr/>
        </p:nvSpPr>
        <p:spPr>
          <a:xfrm>
            <a:off x="5888133" y="3988188"/>
            <a:ext cx="5179210" cy="6278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kumimoji="1" sz="2400" kern="800" spc="1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lang="ja-JP" altLang="en-US" sz="1400">
                <a:latin typeface="Hiragino Sans W4" panose="020B0400000000000000" pitchFamily="34" charset="-128"/>
                <a:ea typeface="Hiragino Sans W4" panose="020B0400000000000000" pitchFamily="34" charset="-128"/>
              </a:rPr>
              <a:t>■ブランドごとの販売・発行状況</a:t>
            </a:r>
            <a:endParaRPr lang="en-US" altLang="ja-JP" sz="1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22E55858-4588-D300-E2AC-22C332583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930" y="1868135"/>
            <a:ext cx="5279413" cy="2197117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0D3B84CA-5EAA-11F6-27B1-D4C464C5B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79"/>
          <a:stretch>
            <a:fillRect/>
          </a:stretch>
        </p:blipFill>
        <p:spPr>
          <a:xfrm>
            <a:off x="7613414" y="4588719"/>
            <a:ext cx="4019977" cy="1832634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717A7A5-CD23-DB98-81BA-93FC41F8E2FD}"/>
              </a:ext>
            </a:extLst>
          </p:cNvPr>
          <p:cNvSpPr txBox="1"/>
          <p:nvPr/>
        </p:nvSpPr>
        <p:spPr>
          <a:xfrm>
            <a:off x="719669" y="1585119"/>
            <a:ext cx="3609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■初回登録ユーザー数：</a:t>
            </a:r>
            <a:r>
              <a:rPr lang="en-US" altLang="ja-JP" sz="14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xx</a:t>
            </a:r>
            <a:endParaRPr lang="ja-JP" altLang="en-US" sz="1400">
              <a:solidFill>
                <a:schemeClr val="tx2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C3C05B2-0259-8A4A-28CC-6BC4DB448715}"/>
              </a:ext>
            </a:extLst>
          </p:cNvPr>
          <p:cNvSpPr txBox="1"/>
          <p:nvPr/>
        </p:nvSpPr>
        <p:spPr>
          <a:xfrm>
            <a:off x="725029" y="3333226"/>
            <a:ext cx="46864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商品代流通総額：</a:t>
            </a:r>
            <a:r>
              <a:rPr lang="en-US" altLang="ja-JP" sz="14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xx</a:t>
            </a:r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円</a:t>
            </a:r>
            <a:r>
              <a:rPr lang="en-US" altLang="ja-JP" sz="14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 (</a:t>
            </a:r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総購入金額：</a:t>
            </a:r>
            <a:r>
              <a:rPr lang="en-US" altLang="ja-JP" sz="14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xx</a:t>
            </a:r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円</a:t>
            </a:r>
            <a:r>
              <a:rPr lang="en-US" altLang="ja-JP" sz="14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)</a:t>
            </a:r>
            <a:endParaRPr lang="ja-JP" altLang="en-US" sz="1400">
              <a:solidFill>
                <a:schemeClr val="tx2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2CE092E-B100-AE54-68DE-D7B8119A2FBD}"/>
              </a:ext>
            </a:extLst>
          </p:cNvPr>
          <p:cNvSpPr txBox="1"/>
          <p:nvPr/>
        </p:nvSpPr>
        <p:spPr>
          <a:xfrm>
            <a:off x="719667" y="2909221"/>
            <a:ext cx="3609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■購入上位のチケット一覧</a:t>
            </a:r>
          </a:p>
        </p:txBody>
      </p:sp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5F76D8F6-7373-57FB-7FAE-4B23BA9D3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22682"/>
              </p:ext>
            </p:extLst>
          </p:nvPr>
        </p:nvGraphicFramePr>
        <p:xfrm>
          <a:off x="784087" y="3757231"/>
          <a:ext cx="4467244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811">
                  <a:extLst>
                    <a:ext uri="{9D8B030D-6E8A-4147-A177-3AD203B41FA5}">
                      <a16:colId xmlns:a16="http://schemas.microsoft.com/office/drawing/2014/main" val="1617546568"/>
                    </a:ext>
                  </a:extLst>
                </a:gridCol>
                <a:gridCol w="1116811">
                  <a:extLst>
                    <a:ext uri="{9D8B030D-6E8A-4147-A177-3AD203B41FA5}">
                      <a16:colId xmlns:a16="http://schemas.microsoft.com/office/drawing/2014/main" val="40970603"/>
                    </a:ext>
                  </a:extLst>
                </a:gridCol>
                <a:gridCol w="1116811">
                  <a:extLst>
                    <a:ext uri="{9D8B030D-6E8A-4147-A177-3AD203B41FA5}">
                      <a16:colId xmlns:a16="http://schemas.microsoft.com/office/drawing/2014/main" val="3449370542"/>
                    </a:ext>
                  </a:extLst>
                </a:gridCol>
                <a:gridCol w="1116811">
                  <a:extLst>
                    <a:ext uri="{9D8B030D-6E8A-4147-A177-3AD203B41FA5}">
                      <a16:colId xmlns:a16="http://schemas.microsoft.com/office/drawing/2014/main" val="1024161987"/>
                    </a:ext>
                  </a:extLst>
                </a:gridCol>
              </a:tblGrid>
              <a:tr h="214934"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ブランド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販売合計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販売数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購入ユーザー数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576576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ブランド</a:t>
                      </a:r>
                      <a:r>
                        <a:rPr kumimoji="1" lang="en-US" altLang="ja-JP" sz="105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</a:t>
                      </a:r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295635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ブランド</a:t>
                      </a:r>
                      <a:r>
                        <a:rPr kumimoji="1" lang="en-US" altLang="ja-JP" sz="105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B</a:t>
                      </a:r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751864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ブランド</a:t>
                      </a:r>
                      <a:r>
                        <a:rPr kumimoji="1" lang="en-US" altLang="ja-JP" sz="105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</a:t>
                      </a:r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566078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149248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762353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670467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975166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812443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690877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57683"/>
                  </a:ext>
                </a:extLst>
              </a:tr>
            </a:tbl>
          </a:graphicData>
        </a:graphic>
      </p:graphicFrame>
      <p:sp>
        <p:nvSpPr>
          <p:cNvPr id="31" name="タイトル 2">
            <a:extLst>
              <a:ext uri="{FF2B5EF4-FFF2-40B4-BE49-F238E27FC236}">
                <a16:creationId xmlns:a16="http://schemas.microsoft.com/office/drawing/2014/main" id="{99992160-9340-76B8-3845-FA279ABF80BF}"/>
              </a:ext>
            </a:extLst>
          </p:cNvPr>
          <p:cNvSpPr txBox="1">
            <a:spLocks/>
          </p:cNvSpPr>
          <p:nvPr/>
        </p:nvSpPr>
        <p:spPr>
          <a:xfrm>
            <a:off x="5888133" y="1240287"/>
            <a:ext cx="5179210" cy="6278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kumimoji="1" sz="2400" kern="800" spc="1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lang="ja-JP" altLang="en-US" sz="1400">
                <a:latin typeface="Hiragino Sans W4" panose="020B0400000000000000" pitchFamily="34" charset="-128"/>
                <a:ea typeface="Hiragino Sans W4" panose="020B0400000000000000" pitchFamily="34" charset="-128"/>
              </a:rPr>
              <a:t>■ログインユーザー数推移</a:t>
            </a:r>
            <a:endParaRPr lang="en-US" altLang="ja-JP" sz="1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9988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giftee for business+">
      <a:dk1>
        <a:srgbClr val="60382C"/>
      </a:dk1>
      <a:lt1>
        <a:srgbClr val="E0F2F7"/>
      </a:lt1>
      <a:dk2>
        <a:srgbClr val="4B4B4B"/>
      </a:dk2>
      <a:lt2>
        <a:srgbClr val="5097C3"/>
      </a:lt2>
      <a:accent1>
        <a:srgbClr val="0C6993"/>
      </a:accent1>
      <a:accent2>
        <a:srgbClr val="003F65"/>
      </a:accent2>
      <a:accent3>
        <a:srgbClr val="F08A70"/>
      </a:accent3>
      <a:accent4>
        <a:srgbClr val="8F6156"/>
      </a:accent4>
      <a:accent5>
        <a:srgbClr val="FFBCA0"/>
      </a:accent5>
      <a:accent6>
        <a:srgbClr val="F7E9E8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67</Words>
  <Application>Microsoft Macintosh PowerPoint</Application>
  <PresentationFormat>ワイド画面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Hiragino Kaku Gothic Pro W6</vt:lpstr>
      <vt:lpstr>Hiragino Sans W4</vt:lpstr>
      <vt:lpstr>Meiryo UI</vt:lpstr>
      <vt:lpstr>游ゴシック</vt:lpstr>
      <vt:lpstr>Arial</vt:lpstr>
      <vt:lpstr>Helvetica Neue</vt:lpstr>
      <vt:lpstr>Helvetica Neue Light</vt:lpstr>
      <vt:lpstr>1_Office テーマ</vt:lpstr>
      <vt:lpstr>xxxxx（イシュア名）ご報告資料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Miharu Kitamura</dc:creator>
  <cp:lastModifiedBy>Itsuki Matsumoto</cp:lastModifiedBy>
  <cp:revision>35</cp:revision>
  <dcterms:created xsi:type="dcterms:W3CDTF">2025-04-04T06:15:52Z</dcterms:created>
  <dcterms:modified xsi:type="dcterms:W3CDTF">2025-10-30T01:58:23Z</dcterms:modified>
</cp:coreProperties>
</file>